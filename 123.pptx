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64" r:id="rId7"/>
    <p:sldId id="26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-1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3C9AE-4E79-5C69-D604-FB1EB374B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787705-1AB8-7DB4-0C8A-5E60D1FB9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CC1EEA-E2D3-7CE2-72E4-D5312BE2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61DCF0-A68A-2CE7-C954-27EEDD0B2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AC090D-3E9F-C4DC-6BC5-79046354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9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98EED-271C-F43B-DBE7-5D864D9DB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22B3C4-3DA7-B5C2-C726-A68EE5C0C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E32C00-6E12-3F98-6341-AB9C1C9E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512C2C-F8F1-1B9B-95C3-7BE54283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CA6063-563B-7736-854A-86487BBF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4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B70CF-297D-12E2-9234-2A7DCE1D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7FB3A5-611A-3F57-9F2B-893C9446A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F6D1C4-BB71-6B38-A756-7A67A924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F1D7A-419F-DF83-BF6D-DB120F0B5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52179-9188-72CE-1C21-92A38A9F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74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D24AD-88BB-D687-C369-61159935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5DA0F4-6CFF-11EB-3109-19EB44AB9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5F88CB-3691-1EFA-B2A2-F35777D89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9EED08-FF75-DE5C-7894-4DA7F8B8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7F837C-978B-4951-9442-AEE03684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8627C6-F92E-67BA-757D-E82C5602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23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C61B8-257A-0377-0ED5-8298CC61D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868905-22F1-FD42-9D05-2410876DC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8A9CEC-703A-97BC-DC50-14710B7B5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F99AFA-39F2-52A6-4F13-48D0D5839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984CC3-1012-F08E-B1F5-1E7D9F49A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94534D-C0BA-C337-ABC1-58F0EB3D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81557A-6C81-20B7-053B-45CE3C09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EA012F-E586-7AC4-6A6F-5371FF13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6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C2F34-C11B-7B73-DB18-DDA3F1A6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34FCD1-BF16-5402-1878-902708D0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6B1D5A-8735-0449-3C44-12629750C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155017-BB0F-A036-585C-4D002CEF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346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C38C04-13AE-D773-6C2F-AD6A00C3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24637B-CBC5-6179-5708-4D535C78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5BE4-4DAF-C285-DB48-D74BD128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06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6CE26-A0EE-CF1E-DF5E-A8346748B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9EABF7-0A2B-AF7C-B071-C55D3A5DC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A8BEB2-E72E-D4F5-BC54-9E62D5CC1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965CC4-55AB-42FA-0A27-C000812FC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EAFEFE-F468-F3BE-FBF4-8B9F79BA0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75172B-3A24-4398-FF0D-5880D623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29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25EEC-98E4-B527-F060-4439E947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0F19901-14E7-4F21-4AFF-B61E7C0D9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BD4BD9-5B82-5745-C470-0E241B525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9F6D6C-0743-C715-7CDD-1F58C46A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44A10C-ECC9-A524-71F0-9333A45E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58518-27E2-3C1A-1F4F-2C0C0CC7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98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4A7B3-FDEE-69C2-1F01-5F26614AA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85BD96-53D3-8AC7-FE17-55C8E40D0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983EC1-C16C-EC12-D73E-0318B41E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F7B1E2-BD30-97FA-536E-D8D807281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7E0DB-0B2A-2AE9-36B7-F7D26B54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796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262CC3-846D-8C76-DA67-4A94A74FC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0F54E5-6C7A-D533-3549-C3107D913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43360-21C2-3D4E-4BF0-198F7FFC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19FCFB-E131-DD69-619A-422971FC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9ECCE-EC80-621A-D708-4F7D2A3B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73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4B4FD4-2005-606F-8E2C-0DEE3AAD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EE3A43-4F8C-F93A-3A51-C70D4CB08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F2976-866A-24DE-5F64-CC6CF0400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80077-D82B-4298-A609-8AAE64A22778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2AFA2E-EEE3-46AA-D987-53ABF2F9C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80551-AC75-75A9-4BE4-560B0BF53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82E69-D6B8-4AE5-81D0-9E11790875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74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4D0F905-E742-0C5B-1778-2CC064000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17" y="253608"/>
            <a:ext cx="2534830" cy="3050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23FF50-15A5-36CD-6C6D-AD6C3E43D168}"/>
              </a:ext>
            </a:extLst>
          </p:cNvPr>
          <p:cNvSpPr txBox="1"/>
          <p:nvPr/>
        </p:nvSpPr>
        <p:spPr>
          <a:xfrm>
            <a:off x="2992580" y="253608"/>
            <a:ext cx="6530109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세션 기반 로그인 및 접근 제어</a:t>
            </a:r>
            <a:endParaRPr lang="en-US" altLang="ko-KR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endParaRPr lang="ko-KR" altLang="en-US" sz="5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부여된 심사위원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ID/Password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를 통한 인증 기능을 제공</a:t>
            </a:r>
          </a:p>
          <a:p>
            <a:pPr marL="200660" marR="0" indent="-200660" algn="just" fontAlgn="base" latinLnBrk="1">
              <a:lnSpc>
                <a:spcPct val="160000"/>
              </a:lnSpc>
              <a:buNone/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로그인 상태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세션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를 브라우저에 유지하며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비정상적인 접근이나 세션 만료 시 로그인 페이지로 안전하게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리다이렉션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1925BCB-0296-27FC-2508-3A00D0905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19" y="3429000"/>
            <a:ext cx="3034964" cy="30087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678E3C-2806-1F91-C99F-C5AB3DCB2A33}"/>
              </a:ext>
            </a:extLst>
          </p:cNvPr>
          <p:cNvSpPr txBox="1"/>
          <p:nvPr/>
        </p:nvSpPr>
        <p:spPr>
          <a:xfrm>
            <a:off x="3519052" y="4164135"/>
            <a:ext cx="7213602" cy="1148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권한 기반 카테고리</a:t>
            </a:r>
            <a:r>
              <a:rPr lang="en-US" altLang="ko-KR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부문</a:t>
            </a:r>
            <a:r>
              <a:rPr lang="en-US" altLang="ko-KR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 </a:t>
            </a:r>
            <a:r>
              <a:rPr lang="ko-KR" altLang="en-US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필터링</a:t>
            </a: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endParaRPr lang="ko-KR" altLang="en-US" sz="5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fontAlgn="base"/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배정된 심사 부문</a:t>
            </a:r>
            <a:r>
              <a:rPr lang="en-US" altLang="ko-KR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대분류</a:t>
            </a:r>
            <a:r>
              <a:rPr lang="en-US" altLang="ko-KR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 </a:t>
            </a:r>
            <a:r>
              <a:rPr lang="ko-KR" altLang="en-US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권한에 따라 화면에 노출되는 작품 목록이 동적으로 변경</a:t>
            </a:r>
          </a:p>
          <a:p>
            <a:pPr marL="200660" indent="-200660" algn="just" fontAlgn="base">
              <a:lnSpc>
                <a:spcPct val="16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en-US" altLang="ko-KR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8</a:t>
            </a:r>
            <a:r>
              <a:rPr lang="ko-KR" altLang="en-US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개 대분류</a:t>
            </a:r>
            <a:r>
              <a:rPr lang="en-US" altLang="ko-KR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29</a:t>
            </a:r>
            <a:r>
              <a:rPr lang="ko-KR" altLang="en-US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개 소분류의 선택 트리를 제공하여</a:t>
            </a:r>
            <a:r>
              <a:rPr lang="en-US" altLang="ko-KR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본인의 심사 대상 출품작만 필터링하여 조회가능</a:t>
            </a:r>
          </a:p>
          <a:p>
            <a:pPr marL="200660" marR="0" indent="-200660" algn="just" fontAlgn="base" latinLnBrk="1">
              <a:lnSpc>
                <a:spcPct val="160000"/>
              </a:lnSpc>
              <a:buNone/>
            </a:pPr>
            <a:endParaRPr lang="ko-KR" altLang="en-US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8032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00A9-08CF-32F7-694B-61EBA345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166442E-E50E-D7AD-959D-32888BCC3001}"/>
              </a:ext>
            </a:extLst>
          </p:cNvPr>
          <p:cNvSpPr txBox="1"/>
          <p:nvPr/>
        </p:nvSpPr>
        <p:spPr>
          <a:xfrm>
            <a:off x="1062182" y="5008202"/>
            <a:ext cx="9060871" cy="16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통합 멀티미디어 보안 뷰어</a:t>
            </a:r>
            <a:endParaRPr lang="en-US" altLang="ko-KR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endParaRPr lang="ko-KR" altLang="en-US" sz="5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비디오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영상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웹 내장 플레이어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구글 드라이브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74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뷰어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를 통해 스트리밍하며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우클릭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방지 및 다운로드 차단 오버레이가 적용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문서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/PPT: Google Drive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뷰어 연동 기술을 사용합니다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원본 파일 접근을 원천 차단하고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'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미리보기 모드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'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로만 화면 내에 렌더링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시리즈 작품 지원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하나의 출품작이 여러 개의 파일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폴더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다수의 영상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/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문서 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로 구성된 경우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파일 개수에 따라 탭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(Tab)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또는 드롭다운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(Select)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메뉴로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UI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가 자동 변환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F645C1-0B53-9A25-7ED8-D7F9DB853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976" y="184727"/>
            <a:ext cx="6530078" cy="449778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3503E75-31C7-273B-E230-76094DE7DB08}"/>
              </a:ext>
            </a:extLst>
          </p:cNvPr>
          <p:cNvSpPr/>
          <p:nvPr/>
        </p:nvSpPr>
        <p:spPr>
          <a:xfrm>
            <a:off x="8488217" y="4231137"/>
            <a:ext cx="572654" cy="3602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09CF9B-10B6-4793-1243-CEEE086707EE}"/>
              </a:ext>
            </a:extLst>
          </p:cNvPr>
          <p:cNvSpPr/>
          <p:nvPr/>
        </p:nvSpPr>
        <p:spPr>
          <a:xfrm>
            <a:off x="2576975" y="3870919"/>
            <a:ext cx="2576915" cy="3602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42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4DA5-2D54-CAC0-D8C5-4D32F8C48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76F215-7AB4-F0D8-9F95-49F36F8EFF1F}"/>
              </a:ext>
            </a:extLst>
          </p:cNvPr>
          <p:cNvSpPr txBox="1"/>
          <p:nvPr/>
        </p:nvSpPr>
        <p:spPr>
          <a:xfrm>
            <a:off x="3962400" y="343839"/>
            <a:ext cx="706581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부문별 맞춤형 채점 기능</a:t>
            </a:r>
            <a:endParaRPr lang="ko-KR" altLang="en-US" sz="5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선택한 소분류에 따라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전략성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기술성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예술성 등 각 평가 항목별 배점 기준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최대 점수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이 자동으로 변경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실시간 총점 계산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제출 단계는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'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임시 저장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'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과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'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최종 제출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'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로 분리되어 데이터 확인 및 수정가능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09845A-D68A-4F0F-B8A4-D7CAD8B72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6" y="266259"/>
            <a:ext cx="3535590" cy="4192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87FE010-38F2-87DD-32BC-A7728CACC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886043"/>
            <a:ext cx="3267531" cy="4763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872A08-B860-0F81-1A7D-B0626F80D8DB}"/>
              </a:ext>
            </a:extLst>
          </p:cNvPr>
          <p:cNvSpPr txBox="1"/>
          <p:nvPr/>
        </p:nvSpPr>
        <p:spPr>
          <a:xfrm>
            <a:off x="3962400" y="2906930"/>
            <a:ext cx="7065818" cy="95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내 심사 결과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'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관리 및 추출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심사위원이 완료한 전체 작품 목록과 부여한 점수를 별도의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모달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팝업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창에서 실시간으로 조회 가능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본인의 심사 결과를 엑셀로 다운로드 가능</a:t>
            </a:r>
          </a:p>
        </p:txBody>
      </p:sp>
    </p:spTree>
    <p:extLst>
      <p:ext uri="{BB962C8B-B14F-4D97-AF65-F5344CB8AC3E}">
        <p14:creationId xmlns:p14="http://schemas.microsoft.com/office/powerpoint/2010/main" val="28534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66E5-F1C3-D85E-9B47-E1209B5E9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26676E8-3F1F-55AE-88AA-F86486E1D89C}"/>
              </a:ext>
            </a:extLst>
          </p:cNvPr>
          <p:cNvSpPr txBox="1"/>
          <p:nvPr/>
        </p:nvSpPr>
        <p:spPr>
          <a:xfrm>
            <a:off x="4410365" y="169835"/>
            <a:ext cx="7065818" cy="301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화면 캡처 및 시스템 도구 차단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en-US" altLang="ko-KR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PrintScreen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키나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Mac OS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화면 캡처 단축키 입력 시 즉시 화면이 검게 차단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(Blackout)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되며 경고창이 발생합니다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복사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en-US" altLang="ko-KR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Ctrl+C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인쇄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en-US" altLang="ko-KR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Ctrl+P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저장 시도를 차단하며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'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개발자 도구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(F12)'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와 같은 브라우저 내부 분석 시스템으로의 접근을 차단합니다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복사 시에는 클립보드에 경고 문구가 복사되도록 무효화 처리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</a:t>
            </a:r>
          </a:p>
          <a:p>
            <a:pPr algn="just" fontAlgn="base">
              <a:lnSpc>
                <a:spcPct val="160000"/>
              </a:lnSpc>
            </a:pPr>
            <a:endParaRPr lang="en-US" altLang="ko-KR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포커스 이탈 감지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심사 화면을 띄워놓고 메신저 창이나 다른 프로그램을 클릭할 경우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심사 화면이 즉각적으로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블러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정상적인 팝업 문서 뷰어를 띄웠을 때는 시스템이 이를 인지하여 메인 창이 흐려지지 않도록 예외 처리 로직이 적용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FA9195-68B4-C2CE-F5FC-78E23793F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22" y="169835"/>
            <a:ext cx="3519851" cy="22264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E28B1C-A5F9-32B3-70B6-7FF4B58DA4BB}"/>
              </a:ext>
            </a:extLst>
          </p:cNvPr>
          <p:cNvSpPr txBox="1"/>
          <p:nvPr/>
        </p:nvSpPr>
        <p:spPr>
          <a:xfrm>
            <a:off x="4410365" y="3506471"/>
            <a:ext cx="7065818" cy="95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외부 링크 다운로드 차단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블로커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구글 드라이브 문서 뷰어 상단에 제공되는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'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새 창으로 열어보기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'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기본 버튼을 클릭하지 못하도록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프론트엔드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단에 투명한 블로킹 레이어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(UI Blocker)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를 씌워 외부 유출을 방어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8255C6A-6EB8-E089-244D-662A21260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96" y="2641600"/>
            <a:ext cx="3380477" cy="232840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AE4EF2-BA7A-BBB2-A4BE-07D2DFC5432B}"/>
              </a:ext>
            </a:extLst>
          </p:cNvPr>
          <p:cNvSpPr/>
          <p:nvPr/>
        </p:nvSpPr>
        <p:spPr>
          <a:xfrm>
            <a:off x="3389746" y="2641600"/>
            <a:ext cx="277091" cy="20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06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7A8E-7710-DD0C-258A-F962CFF97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2ECC5A-0F0A-F527-F688-790DB754E4D0}"/>
              </a:ext>
            </a:extLst>
          </p:cNvPr>
          <p:cNvSpPr txBox="1"/>
          <p:nvPr/>
        </p:nvSpPr>
        <p:spPr>
          <a:xfrm>
            <a:off x="2762540" y="4535171"/>
            <a:ext cx="7065818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로그인 및 관리자 인증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관리자 전용 인증 암호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비밀번호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를 통해 대시보드 접근을 제어하며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접속 후 관리자 암호를 변경할 수 있는 보안 카드를 제공</a:t>
            </a:r>
            <a:endParaRPr lang="en-US" altLang="ko-KR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심사위원 계정 관리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(CRUD)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및 권한 할당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새로운 심사위원 계정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이름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ID,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임시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PW)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을 생성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조회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삭제 가능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각 심사위원에게 어느 대분류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소분류를 심사하게 할지 체크박스로 선택하여 권한을 개별 할당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408891-AFDE-98BD-17B4-98F384EA0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08" y="209550"/>
            <a:ext cx="8620125" cy="405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91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817DD-00DB-A094-F64C-1CC55AFAE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1687F4-FA2B-664B-24A6-BB89F7B656E6}"/>
              </a:ext>
            </a:extLst>
          </p:cNvPr>
          <p:cNvSpPr txBox="1"/>
          <p:nvPr/>
        </p:nvSpPr>
        <p:spPr>
          <a:xfrm>
            <a:off x="2762540" y="4535171"/>
            <a:ext cx="7065818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로그인 및 관리자 인증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관리자 전용 인증 암호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비밀번호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를 통해 대시보드 접근을 제어하며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접속 후 관리자 암호를 변경할 수 있는 보안 카드를 제공</a:t>
            </a:r>
            <a:endParaRPr lang="en-US" altLang="ko-KR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ㅇ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심사위원 계정 관리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(CRUD)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및 권한 할당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새로운 심사위원 계정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이름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ID,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임시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PW)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을 생성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조회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삭제 가능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각 심사위원에게 어느 대분류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소분류를 심사하게 할지 체크박스로 선택하여 권한을 개별 할당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2D0A21-8BC5-B41F-A65B-5E1364C42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08" y="209550"/>
            <a:ext cx="8620125" cy="405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64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A8533-6503-FBCA-4071-3CF77FA3F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CEA76E7-A688-3895-D1C9-DFEAC6D92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87" y="457199"/>
            <a:ext cx="5830114" cy="340566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867BC97-689D-CB9A-DA06-9485E4377D15}"/>
              </a:ext>
            </a:extLst>
          </p:cNvPr>
          <p:cNvSpPr/>
          <p:nvPr/>
        </p:nvSpPr>
        <p:spPr>
          <a:xfrm>
            <a:off x="1114425" y="638175"/>
            <a:ext cx="3781425" cy="21907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2FAD1E-5179-6D6B-8A8A-667BF36D3A6B}"/>
              </a:ext>
            </a:extLst>
          </p:cNvPr>
          <p:cNvSpPr txBox="1"/>
          <p:nvPr/>
        </p:nvSpPr>
        <p:spPr>
          <a:xfrm>
            <a:off x="6248401" y="476249"/>
            <a:ext cx="7065818" cy="479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현재 구글 드라이브 뷰어로 영상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문서등을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볼 수 있게 조치하였으나  </a:t>
            </a:r>
            <a:endParaRPr lang="en-US" altLang="ko-KR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PPT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의 경우 파일 업로드 시  삽입 된 영상 재생이 불가하고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글꼴이 깨짐</a:t>
            </a:r>
            <a:endParaRPr lang="en-US" altLang="ko-KR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endParaRPr lang="en-US" altLang="ko-KR" sz="1200" kern="0" dirty="0">
              <a:solidFill>
                <a:srgbClr val="00000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그리고 접수메일안에 추가설명서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신청서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작품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en-US" altLang="ko-KR" sz="1200" kern="0" spc="0" dirty="0" err="1">
                <a:solidFill>
                  <a:srgbClr val="000000"/>
                </a:solidFill>
                <a:effectLst/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ppt,p</a:t>
            </a:r>
            <a:r>
              <a:rPr lang="en-US" altLang="ko-KR" sz="1200" kern="0" dirty="0" err="1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df</a:t>
            </a: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200" kern="0" dirty="0" err="1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둘다내는건</a:t>
            </a: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어떻게 </a:t>
            </a:r>
            <a:r>
              <a:rPr lang="ko-KR" altLang="en-US" sz="1200" kern="0" dirty="0" err="1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해야하는지</a:t>
            </a:r>
            <a:r>
              <a:rPr lang="en-US" altLang="ko-KR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</a:p>
          <a:p>
            <a:pPr algn="just" fontAlgn="base">
              <a:lnSpc>
                <a:spcPct val="160000"/>
              </a:lnSpc>
            </a:pPr>
            <a:endParaRPr lang="en-US" altLang="ko-KR" sz="1200" kern="0" dirty="0">
              <a:solidFill>
                <a:srgbClr val="00000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데이터 유실의 위험</a:t>
            </a:r>
            <a:r>
              <a:rPr lang="en-US" altLang="ko-KR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테스트 필수로 해야함</a:t>
            </a:r>
            <a:r>
              <a:rPr lang="en-US" altLang="ko-KR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</a:p>
          <a:p>
            <a:pPr algn="just" fontAlgn="base">
              <a:lnSpc>
                <a:spcPct val="160000"/>
              </a:lnSpc>
            </a:pPr>
            <a:endParaRPr lang="en-US" altLang="ko-KR" sz="1200" kern="0" dirty="0">
              <a:solidFill>
                <a:srgbClr val="00000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URL</a:t>
            </a: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보안문제 개발지식을 </a:t>
            </a:r>
            <a:r>
              <a:rPr lang="ko-KR" altLang="en-US" sz="1200" kern="0" dirty="0" err="1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갖고있는</a:t>
            </a: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사람이면 충분히 구글 드라이브 원본</a:t>
            </a:r>
            <a:r>
              <a:rPr lang="en-US" altLang="ko-KR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URL</a:t>
            </a: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확인가능</a:t>
            </a:r>
            <a:endParaRPr lang="en-US" altLang="ko-KR" sz="1200" kern="0" dirty="0">
              <a:solidFill>
                <a:srgbClr val="00000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endParaRPr lang="en-US" altLang="ko-KR" sz="1200" kern="0" dirty="0">
              <a:solidFill>
                <a:srgbClr val="00000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구글드라이브에 저장하여 출품작품을 불러오는 </a:t>
            </a:r>
            <a:r>
              <a:rPr lang="ko-KR" altLang="en-US" sz="1200" kern="0" dirty="0" err="1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형식이다보니</a:t>
            </a: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대용량 파일이 로드가 안되거나 </a:t>
            </a:r>
            <a:r>
              <a:rPr lang="ko-KR" altLang="en-US" sz="1200" kern="0" dirty="0" err="1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오래걸리는</a:t>
            </a: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현상이 있음</a:t>
            </a:r>
            <a:endParaRPr lang="en-US" altLang="ko-KR" sz="1200" kern="0" dirty="0">
              <a:solidFill>
                <a:srgbClr val="00000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endParaRPr lang="en-US" altLang="ko-KR" sz="1200" kern="0" dirty="0">
              <a:solidFill>
                <a:srgbClr val="00000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다중로그인 방지 시스템 필요</a:t>
            </a:r>
            <a:endParaRPr lang="en-US" altLang="ko-KR" sz="1200" kern="0" dirty="0">
              <a:solidFill>
                <a:srgbClr val="00000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endParaRPr lang="en-US" altLang="ko-KR" sz="1200" kern="0" dirty="0">
              <a:solidFill>
                <a:srgbClr val="00000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endParaRPr lang="en-US" altLang="ko-KR" sz="1200" kern="0" dirty="0">
              <a:solidFill>
                <a:srgbClr val="00000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endParaRPr lang="ko-KR" altLang="en-US" sz="1200" kern="0" spc="0" dirty="0">
              <a:solidFill>
                <a:srgbClr val="000000"/>
              </a:solidFill>
              <a:effectLst/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1185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643</Words>
  <Application>Microsoft Office PowerPoint</Application>
  <PresentationFormat>와이드스크린</PresentationFormat>
  <Paragraphs>52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G마켓 산스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 선표</dc:creator>
  <cp:lastModifiedBy>홍 선표</cp:lastModifiedBy>
  <cp:revision>2</cp:revision>
  <dcterms:created xsi:type="dcterms:W3CDTF">2026-03-25T01:34:59Z</dcterms:created>
  <dcterms:modified xsi:type="dcterms:W3CDTF">2026-03-26T05:30:29Z</dcterms:modified>
</cp:coreProperties>
</file>